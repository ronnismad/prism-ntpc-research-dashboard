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e8899ecdbf4e02" /><Relationship Type="http://schemas.openxmlformats.org/officeDocument/2006/relationships/extended-properties" Target="/docProps/app.xml" Id="R73147aaeef7c4c26" /><Relationship Type="http://schemas.openxmlformats.org/officeDocument/2006/relationships/officeDocument" Target="/ppt/presentation.xml" Id="R3f973cb852c244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635f37ffb24e4b"/>
  </p:sldMasterIdLst>
  <p:notesMasterIdLst>
    <p:notesMasterId xmlns:r="http://schemas.openxmlformats.org/officeDocument/2006/relationships" r:id="R195ca3bca7fd4f21"/>
  </p:notesMasterIdLst>
  <p:sldIdLst>
    <p:sldId xmlns:r="http://schemas.openxmlformats.org/officeDocument/2006/relationships" id="256" r:id="R15e6c4a2fea34700"/>
    <p:sldId xmlns:r="http://schemas.openxmlformats.org/officeDocument/2006/relationships" id="257" r:id="R4b4fb8f6b6284543"/>
    <p:sldId xmlns:r="http://schemas.openxmlformats.org/officeDocument/2006/relationships" id="258" r:id="Rb3d21e31ee854893"/>
    <p:sldId xmlns:r="http://schemas.openxmlformats.org/officeDocument/2006/relationships" id="259" r:id="Rf3c7fcf0ab724267"/>
    <p:sldId xmlns:r="http://schemas.openxmlformats.org/officeDocument/2006/relationships" id="260" r:id="R39eeb58d3d2a45e2"/>
    <p:sldId xmlns:r="http://schemas.openxmlformats.org/officeDocument/2006/relationships" id="261" r:id="Rdf5dfcf5654b4fe7"/>
    <p:sldId xmlns:r="http://schemas.openxmlformats.org/officeDocument/2006/relationships" id="262" r:id="Ra3785a245d5f421f"/>
    <p:sldId xmlns:r="http://schemas.openxmlformats.org/officeDocument/2006/relationships" id="263" r:id="R7fc40bb30eba42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475277d9d14b2a" /><Relationship Type="http://schemas.openxmlformats.org/officeDocument/2006/relationships/slideMaster" Target="/ppt/slideMasters/slideMaster1.xml" Id="Rc8635f37ffb24e4b" /><Relationship Type="http://schemas.openxmlformats.org/officeDocument/2006/relationships/notesMaster" Target="/ppt/notesMasters/notesMaster1.xml" Id="R195ca3bca7fd4f21" /><Relationship Type="http://schemas.openxmlformats.org/officeDocument/2006/relationships/presProps" Target="/ppt/presProps.xml" Id="R235d20d615ea4930" /><Relationship Type="http://schemas.openxmlformats.org/officeDocument/2006/relationships/tableStyles" Target="/ppt/tableStyles.xml" Id="R83ae626606114713" /><Relationship Type="http://schemas.openxmlformats.org/officeDocument/2006/relationships/slide" Target="/ppt/slides/slide1.xml" Id="R15e6c4a2fea34700" /><Relationship Type="http://schemas.openxmlformats.org/officeDocument/2006/relationships/slide" Target="/ppt/slides/slide2.xml" Id="R4b4fb8f6b6284543" /><Relationship Type="http://schemas.openxmlformats.org/officeDocument/2006/relationships/slide" Target="/ppt/slides/slide3.xml" Id="Rb3d21e31ee854893" /><Relationship Type="http://schemas.openxmlformats.org/officeDocument/2006/relationships/slide" Target="/ppt/slides/slide4.xml" Id="Rf3c7fcf0ab724267" /><Relationship Type="http://schemas.openxmlformats.org/officeDocument/2006/relationships/slide" Target="/ppt/slides/slide5.xml" Id="R39eeb58d3d2a45e2" /><Relationship Type="http://schemas.openxmlformats.org/officeDocument/2006/relationships/slide" Target="/ppt/slides/slide6.xml" Id="Rdf5dfcf5654b4fe7" /><Relationship Type="http://schemas.openxmlformats.org/officeDocument/2006/relationships/slide" Target="/ppt/slides/slide7.xml" Id="Ra3785a245d5f421f" /><Relationship Type="http://schemas.openxmlformats.org/officeDocument/2006/relationships/slide" Target="/ppt/slides/slide8.xml" Id="R7fc40bb30eba42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e357cd362341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643bf357d24b3f" /><Relationship Type="http://schemas.openxmlformats.org/officeDocument/2006/relationships/notesMaster" Target="/ppt/notesMasters/notesMaster1.xml" Id="R4f8e6a292ca943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949515a7c44ff9" /><Relationship Type="http://schemas.openxmlformats.org/officeDocument/2006/relationships/notesMaster" Target="/ppt/notesMasters/notesMaster1.xml" Id="R85d30f0cd01842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7b9dfdef6549f9" /><Relationship Type="http://schemas.openxmlformats.org/officeDocument/2006/relationships/notesMaster" Target="/ppt/notesMasters/notesMaster1.xml" Id="Rf1c5f33882ad41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b23c1c00794dbb" /><Relationship Type="http://schemas.openxmlformats.org/officeDocument/2006/relationships/notesMaster" Target="/ppt/notesMasters/notesMaster1.xml" Id="R470bfd947a7647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75de55e0314845" /><Relationship Type="http://schemas.openxmlformats.org/officeDocument/2006/relationships/notesMaster" Target="/ppt/notesMasters/notesMaster1.xml" Id="Re74049a749ea40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a9b962690c4f07" /><Relationship Type="http://schemas.openxmlformats.org/officeDocument/2006/relationships/notesMaster" Target="/ppt/notesMasters/notesMaster1.xml" Id="Ra4e744b3f84645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a6c48d614a4ff6" /><Relationship Type="http://schemas.openxmlformats.org/officeDocument/2006/relationships/notesMaster" Target="/ppt/notesMasters/notesMaster1.xml" Id="R01ee3f1fb42944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d5344fd43144e9" /><Relationship Type="http://schemas.openxmlformats.org/officeDocument/2006/relationships/notesMaster" Target="/ppt/notesMasters/notesMaster1.xml" Id="R1d29b178a49c48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Problem: analysts need a traceable way to evaluate operating signals before using them as investment evidence. Audience: Prism research analysts and product team. Relevance: the supplied role/trial brief describes financial and alternative datasets, quantitative evaluation and source-linked LLM tools. Independent prototype by Sutanu Chatterjee. https://github.com/ronnismad/prism-ntpc-research-dashboard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Requirements paraphrased from the supplied trial-project screenshot. The working result and sources are available at https://ronnismad.github.io/prism-ntpc-research-dashboard/ and https://github.com/ronnismad/prism-ntpc-research-dashboard.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https://github.com/ronnismad/prism-ntpc-research-dashboard/blob/main/src/MethodFlow.jsx</a:t>
            </a:r>
          </a:p>
          <a:p xmlns:a="http://schemas.openxmlformats.org/drawingml/2006/main">
            <a:r>
              <a:t>Full standalone diagram: https://github.com/ronnismad/prism-ntpc-research-dashboard/blob/main/submission/NTPC-Research-Flowchart.png</a:t>
            </a:r>
          </a:p>
          <a:p xmlns:a="http://schemas.openxmlformats.org/drawingml/2006/main">
            <a:r>
              <a:t>Generation availability uses a proxy. Financial inputs never enter historical generation forecasts.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https://nsearchives.nseindia.com/corporate/9425178051_23052026151711_NTPCAFR26.pdf PDF pages 16–18, 20 and 22.</a:t>
            </a:r>
          </a:p>
          <a:p xmlns:a="http://schemas.openxmlformats.org/drawingml/2006/main">
            <a:r>
              <a:t>https://ntpc.co.in/sites/default/files/financial_results/2026/QFRQ1FY27.pdf pages 10–11.</a:t>
            </a:r>
          </a:p>
          <a:p xmlns:a="http://schemas.openxmlformats.org/drawingml/2006/main">
            <a:r>
              <a:t>https://nsearchives.nseindia.com/products/content/sec_bhavdata_full_28102026.csv</a:t>
            </a:r>
          </a:p>
          <a:p xmlns:a="http://schemas.openxmlformats.org/drawingml/2006/main">
            <a:r>
              <a:t>Assessment is a dated editorial research view, not a tested stock-return model. The example price screen uses a 15% haircut, 12× fair P/E and 15% safety margin.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https://github.com/ronnismad/prism-ntpc-research-dashboard/blob/main/docs/BACKTEST_RESULTS.md</a:t>
            </a:r>
          </a:p>
          <a:p xmlns:a="http://schemas.openxmlformats.org/drawingml/2006/main">
            <a:r>
              <a:t>https://github.com/ronnismad/prism-ntpc-research-dashboard/blob/main/docs/backtest-day-60.csv</a:t>
            </a:r>
          </a:p>
          <a:p xmlns:a="http://schemas.openxmlformats.org/drawingml/2006/main">
            <a:r>
              <a:t>Average errors across eight quarters at day 60. Seasonal profile uses current QTD and prior-year matched-date seasonality. Charts show rounded presentation values. Full precision is retained in the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https://nsearchives.nseindia.com/corporate/9425178051_23052026151711_NTPCAFR26.pdf PDF page 20. CFO 50901.81, cash capex 44049.78 and financing cash interest 17537.73, all ₹ crore. Gross asset purchases exclude disposals. The selected calculation excludes other investing/financing flows and is not a complete equity cash-flow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https://github.com/ronnismad/prism-ntpc-research-dashboard/blob/main/README.md</a:t>
            </a:r>
          </a:p>
          <a:p xmlns:a="http://schemas.openxmlformats.org/drawingml/2006/main">
            <a:r>
              <a:t>These are observed limitations and proposed next steps. Local LLM routing is optional; the hosted assistant uses instant matching.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https://ronnismad.github.io/prism-ntpc-research-dashboard/</a:t>
            </a:r>
          </a:p>
          <a:p xmlns:a="http://schemas.openxmlformats.org/drawingml/2006/main">
            <a:r>
              <a:t>https://github.com/ronnismad/prism-ntpc-research-dashboard</a:t>
            </a:r>
          </a:p>
          <a:p xmlns:a="http://schemas.openxmlformats.org/drawingml/2006/main">
            <a:r>
              <a:t>Published prototype, 28 automated checks and reproducible source files. All figures are dated snapshots. Independent PRISM trial task by Sutanu Chatterjee.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557f15c92a49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005dcaa2f54d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fb6d089ce741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6a1818c8c84b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27a9cce70a4b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2311b501754b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D81CC5-00BA-4EAB-A3C4-E0E78EF537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7FD00D5-3A6E-43A6-88E3-E4B6A330A3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4AEBAE-053C-4645-8142-555830BF59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DF4AFF-38FE-45AB-BEE8-B57FA4561A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A6774AB-32CB-4836-B5BC-D9A254C6AA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D4D2EC4-C26A-48A0-A5BA-5852681BA9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22B030A-FB4C-42E1-AE30-548D70F850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A7881F9-ED64-4337-81F2-F71FBCEA89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FD5703-4B77-4C50-8424-D137FD70BE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9897D7-6E08-4F10-8375-DA227C45E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3c670ee89b41b5" /><Relationship Type="http://schemas.openxmlformats.org/officeDocument/2006/relationships/slideLayout" Target="/ppt/slideLayouts/slideLayout1.xml" Id="R7d3f0c091a0f4e1d" /><Relationship Type="http://schemas.openxmlformats.org/officeDocument/2006/relationships/slideLayout" Target="/ppt/slideLayouts/slideLayout2.xml" Id="R7c1cc24c123f451f" /><Relationship Type="http://schemas.openxmlformats.org/officeDocument/2006/relationships/slideLayout" Target="/ppt/slideLayouts/slideLayout3.xml" Id="R3225d995d9d840a5" /><Relationship Type="http://schemas.openxmlformats.org/officeDocument/2006/relationships/slideLayout" Target="/ppt/slideLayouts/slideLayout4.xml" Id="R79ba9ad18c3d431a" /><Relationship Type="http://schemas.openxmlformats.org/officeDocument/2006/relationships/slideLayout" Target="/ppt/slideLayouts/slideLayout5.xml" Id="Rc8cb327e43c14a09" /><Relationship Type="http://schemas.openxmlformats.org/officeDocument/2006/relationships/slideLayout" Target="/ppt/slideLayouts/slideLayout6.xml" Id="R180d590e0b6640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3f0c091a0f4e1d"/>
    <p:sldLayoutId xmlns:r="http://schemas.openxmlformats.org/officeDocument/2006/relationships" id="2147483650" r:id="R7c1cc24c123f451f"/>
    <p:sldLayoutId xmlns:r="http://schemas.openxmlformats.org/officeDocument/2006/relationships" id="2147483651" r:id="R3225d995d9d840a5"/>
    <p:sldLayoutId xmlns:r="http://schemas.openxmlformats.org/officeDocument/2006/relationships" id="2147483652" r:id="R79ba9ad18c3d431a"/>
    <p:sldLayoutId xmlns:r="http://schemas.openxmlformats.org/officeDocument/2006/relationships" id="2147483653" r:id="Rc8cb327e43c14a09"/>
    <p:sldLayoutId xmlns:r="http://schemas.openxmlformats.org/officeDocument/2006/relationships" id="2147483654" r:id="R180d590e0b6640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b388629fb44f89" /><Relationship Type="http://schemas.openxmlformats.org/officeDocument/2006/relationships/notesSlide" Target="/ppt/notesSlides/notesSlide1.xml" Id="R3ea7000aa8764e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ac692e6dba4215" /><Relationship Type="http://schemas.openxmlformats.org/officeDocument/2006/relationships/notesSlide" Target="/ppt/notesSlides/notesSlide2.xml" Id="R91bd6d4e7ab349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113efcdd034beb" /><Relationship Type="http://schemas.openxmlformats.org/officeDocument/2006/relationships/notesSlide" Target="/ppt/notesSlides/notesSlide3.xml" Id="R4747a4c480eb47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3a7320bb1344a4" /><Relationship Type="http://schemas.openxmlformats.org/officeDocument/2006/relationships/notesSlide" Target="/ppt/notesSlides/notesSlide4.xml" Id="R7fc7a4f156954c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4d4a47147440db" /><Relationship Type="http://schemas.openxmlformats.org/officeDocument/2006/relationships/chart" Target="/ppt/slides/charts/chart1.xml" Id="Re810843050c949cb" /><Relationship Type="http://schemas.openxmlformats.org/officeDocument/2006/relationships/notesSlide" Target="/ppt/notesSlides/notesSlide5.xml" Id="R6343b2e64c9f4c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4b40fb7d574032" /><Relationship Type="http://schemas.openxmlformats.org/officeDocument/2006/relationships/chart" Target="/ppt/slides/charts/chart2.xml" Id="Rad8dd8aba8504ebb" /><Relationship Type="http://schemas.openxmlformats.org/officeDocument/2006/relationships/notesSlide" Target="/ppt/notesSlides/notesSlide6.xml" Id="Rfe465cf4223c48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0dfee800994ffc" /><Relationship Type="http://schemas.openxmlformats.org/officeDocument/2006/relationships/notesSlide" Target="/ppt/notesSlides/notesSlide7.xml" Id="R144a166cca0440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5f90666ea40a8" /><Relationship Type="http://schemas.openxmlformats.org/officeDocument/2006/relationships/notesSlide" Target="/ppt/notesSlides/notesSlide8.xml" Id="Re8d4baab698e461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MAPE</c:v>
          </c:tx>
          <c:spPr>
            <a:solidFill xmlns:a="http://schemas.openxmlformats.org/drawingml/2006/main">
              <a:srgbClr val="ADC5F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ADC5F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2C7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Run rate</c:v>
                </c:pt>
                <c:pt idx="1">
                  <c:v>Seasonal profile</c:v>
                </c:pt>
              </c:strCache>
            </c:strRef>
          </c:cat>
          <c:val>
            <c:numRef>
              <c:f>'Chart Data'!$B$2:$B$3</c:f>
              <c:numCache>
                <c:formatCode>0.0"%"</c:formatCode>
                <c:ptCount val="2"/>
                <c:pt idx="0">
                  <c:v>1.5</c:v>
                </c:pt>
                <c:pt idx="1">
                  <c:v>2.2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0394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30394A"/>
              </a:solidFill>
            </a:ln>
          </c:spPr>
        </c:majorGridlines>
        <c:numFmt formatCode="0.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C101A"/>
        </a:solidFill>
      </c:spPr>
    </c:plotArea>
    <c:plotVisOnly val="1"/>
  </c:chart>
  <c:spPr>
    <a:solidFill xmlns:a="http://schemas.openxmlformats.org/drawingml/2006/main">
      <a:srgbClr val="0C101A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₹ crore</c:v>
          </c:tx>
          <c:spPr>
            <a:solidFill xmlns:a="http://schemas.openxmlformats.org/drawingml/2006/main">
              <a:srgbClr val="ADC5F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92C7B5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79AB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6C18C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Operating cash</c:v>
                </c:pt>
                <c:pt idx="1">
                  <c:v>Capex</c:v>
                </c:pt>
                <c:pt idx="2">
                  <c:v>Interest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50901.81</c:v>
                </c:pt>
                <c:pt idx="1">
                  <c:v>-44049.78</c:v>
                </c:pt>
                <c:pt idx="2">
                  <c:v>-17537.73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30394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30394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C101A"/>
        </a:solidFill>
      </c:spPr>
    </c:plotArea>
    <c:plotVisOnly val="1"/>
  </c:chart>
  <c:spPr>
    <a:solidFill xmlns:a="http://schemas.openxmlformats.org/drawingml/2006/main">
      <a:srgbClr val="0C101A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40EE0-2284-49D9-9F05-5D6697D2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PRISM Energy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DE227-F3B6-48CE-8A8F-A00496BC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9A1C8-1D1A-418A-9017-57557BE8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FC5924-E878-4CC7-8720-DBDADD60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Operating updates need financial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CB2BE-3833-43FF-B18F-C10CC14D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0275"/>
            <a:ext cx="11125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Analysts need a traceable way to test early operating signals</a:t>
            </a:r>
          </a:p>
          <a:p xmlns:a="http://schemas.openxmlformats.org/drawingml/2006/main">
            <a:pPr>
              <a:defRPr sz="21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before using them as investment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0D7FD-8599-47CA-9390-5FA7DC7D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81375"/>
            <a:ext cx="1981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What I built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7D067-8A13-4ACC-B535-901ACB66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81375"/>
            <a:ext cx="8915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An NTPC dashboard with a generation backtest, financial assessment and Prismy.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3A0A6-4D37-4FA3-81E6-F35F588D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1981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Who it helps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557BA9-38E5-4B8A-BC65-163274EA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24350"/>
            <a:ext cx="8915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Prism’s research analysts and product team.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9529B0-9F29-4B5E-814E-E4B6A6BF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67325"/>
            <a:ext cx="19812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Why Prism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5CB27-272C-436B-B2DA-8A7EA5B2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267325"/>
            <a:ext cx="8915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Financial and alternative-data research with transparent calculations and source-linked answers.</a:t>
            </a:r>
          </a:p>
        </p:txBody>
      </p:sp>
    </p:spTree>
    <p:extLst>
      <p:ext uri="{BB962C8B-B14F-4D97-AF65-F5344CB8AC3E}">
        <p14:creationId xmlns:p14="http://schemas.microsoft.com/office/powerpoint/2010/main" val="105281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9A030-4225-4416-873D-916FD250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How the project answers the task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70BA0-2557-4E4D-972A-3C9F7714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F8B1A-EBD8-49F5-9F09-299D958D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A1E3F-8509-422C-B570-0B5DBCEA7A86}"/>
              </a:ext>
            </a:extLst>
          </p:cNvPr>
          <p:cNvGraphicFramePr/>
          <p:nvPr/>
        </p:nvGraphicFramePr>
        <p:xfrm>
          <a:off xmlns:a="http://schemas.openxmlformats.org/drawingml/2006/main" x="533400" y="1457325"/>
          <a:ext xmlns:a="http://schemas.openxmlformats.org/drawingml/2006/main" cx="11125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696200"/>
              </a:tblGrid>
              <a:tr h="8191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ADC5FF"/>
                          </a:solidFill>
                          <a:latin typeface="Arial"/>
                          <a:ea typeface="Arial"/>
                          <a:cs typeface="Arial"/>
                        </a:rPr>
                        <a:t>Task requirement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T w="9525">
                      <a:solidFill>
                        <a:srgbClr val="30394A"/>
                      </a:solidFill>
                    </a:lnT>
                    <a:lnB w="9525">
                      <a:solidFill>
                        <a:srgbClr val="30394A"/>
                      </a:solidFill>
                    </a:lnB>
                    <a:solidFill>
                      <a:srgbClr val="253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ADC5FF"/>
                          </a:solidFill>
                          <a:latin typeface="Arial"/>
                          <a:ea typeface="Arial"/>
                          <a:cs typeface="Arial"/>
                        </a:rPr>
                        <a:t>Project response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T w="9525">
                      <a:solidFill>
                        <a:srgbClr val="30394A"/>
                      </a:solidFill>
                    </a:lnT>
                    <a:lnB w="9525">
                      <a:solidFill>
                        <a:srgbClr val="30394A"/>
                      </a:solidFill>
                    </a:lnB>
                    <a:solidFill>
                      <a:srgbClr val="25324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Define the problem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Help Prism analysts test operating signals and assess their financial meaning.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Build a prototype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Public CEA and NTPC data, transparent calculations and a working dashboard.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Present the result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A source-backed investment brief: watchlist assessment, cash risks and an editable price screen.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Document the work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Code, README, source files, 28 tests, assumptions, limitations and next steps.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314AA-14E5-45ED-9B29-246F0600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502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Main deliverable: Investment decision. Supporting evidence: the historical evaluation and original sources.</a:t>
            </a:r>
          </a:p>
        </p:txBody>
      </p:sp>
    </p:spTree>
    <p:extLst>
      <p:ext uri="{BB962C8B-B14F-4D97-AF65-F5344CB8AC3E}">
        <p14:creationId xmlns:p14="http://schemas.microsoft.com/office/powerpoint/2010/main" val="10877449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0E9944-2FD1-4DF5-BC05-A05473FAC7CD}"/>
              </a:ext>
            </a:extLst>
          </p:cNvPr>
          <p:cNvCxnSpPr>
            <a:stCxn xmlns:a="http://schemas.openxmlformats.org/drawingml/2006/main" id="24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 flipH="1">
            <a:off x="6096000" y="4505325"/>
            <a:ext cx="293370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394A"/>
            </a:solidFill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C2A356-4470-4BEF-BEF2-0B7EC90DDB9B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>
            <a:off x="3162300" y="4505325"/>
            <a:ext cx="293370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0394A"/>
            </a:solidFill>
            <a:tailEnd type="triangle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52DD0C-CC42-45F3-89AB-A623F83E4473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9029700" y="3514725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2C7B5"/>
            </a:solidFill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AB5AAF-FBE6-45C1-8396-3DF26ADC14EC}"/>
              </a:ext>
            </a:extLst>
          </p:cNvPr>
          <p:cNvCxnSpPr>
            <a:stCxn xmlns:a="http://schemas.openxmlformats.org/drawingml/2006/main" id="17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9029700" y="2524125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2C7B5"/>
            </a:solidFill>
            <a:tailEnd type="triangle" w="med" len="med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7B833-A4AB-4611-BC15-121421F63CA3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3162300" y="3514725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DC5FF"/>
            </a:solidFill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7F9CC-A303-4DA6-97FE-19A2188F0D4F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3162300" y="2524125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DC5FF"/>
            </a:solidFill>
            <a:tailEnd type="triangle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4220ED-EF50-4B3C-98CA-810518F5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Project flowchart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DC2B-9591-4A92-B694-FB308516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BAB9F-BCC5-4550-98DA-69292885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1A3B1-0388-4F0B-ABB3-0A3FB972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525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Operating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F794B-762A-40C1-81F7-B7DB780A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62125"/>
            <a:ext cx="52578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41B2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01155-E12D-4230-B464-8C27ADD8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57375"/>
            <a:ext cx="490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CEA reports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815EA-7DC5-43EE-8AE6-F0E3489F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490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Same eight stations, originals and hashes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770B2-3A28-4413-B4D8-9257E28E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52725"/>
            <a:ext cx="52578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41B2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13062-590A-42DE-8865-2E676555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47975"/>
            <a:ext cx="490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Historical cutoff and quarter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79244-D876-4B69-9573-7FC7E055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490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Eligible reports only; fiscal YTD becomes QTD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2CCAC6-5D45-4020-BC8F-4C765DCF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52578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41B2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EC3F7-A291-4243-8A6F-BB336756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38575"/>
            <a:ext cx="490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Forecast and evaluate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70D76-EF63-467F-9D07-8E158D54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490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Run rate, two baselines; later actuals score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17B2DC-7F4E-4EF5-94BB-7AA110CC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276350"/>
            <a:ext cx="525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92C7B5"/>
                </a:solidFill>
                <a:latin typeface="Arial"/>
                <a:ea typeface="Arial"/>
                <a:cs typeface="Arial"/>
              </a:rPr>
              <a:t>Financial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C88C92-7946-4E39-85FC-156584E7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52578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41B2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FE2096-6A8D-4ACF-957B-200F92DA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90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NTPC filings and NSE close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6F1BA-1443-47A5-8033-8FF87BFB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90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Consolidated results and a dated market price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A71D48-04D6-4422-834B-E00AABE9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52725"/>
            <a:ext cx="52578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41B2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A6F3B0-F2A9-4E10-98D1-20C6EA6F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47975"/>
            <a:ext cx="490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Earnings, cash and debt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63FA6-A989-4411-990C-5729E256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81350"/>
            <a:ext cx="490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Tax effects, capex and financing interest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74EF35-0458-4CEC-83F0-12906F56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43325"/>
            <a:ext cx="52578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41B2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353937-10D1-41E2-A797-BE95A34F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490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Valuation assumptions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16AE87-D223-4A40-B8B9-3C17614A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71950"/>
            <a:ext cx="490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Earnings haircut, fair P/E and safety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CA9B40-CA20-48EE-BB74-F7548B8B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581025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223049"/>
          </a:solidFill>
          <a:ln xmlns:a="http://schemas.openxmlformats.org/drawingml/2006/main" w="9525">
            <a:solidFill>
              <a:srgbClr val="3039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63F248-4F87-439B-9B1B-B0FEC919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768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Investment brief: operating trend, financial quality and price discipline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96C151-6036-4ECE-93BB-AF20CCC2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Prismy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1CC9DB-D42A-487B-A217-BFDF7B85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Matches questions to fixed evidence cards and source links.</a:t>
            </a:r>
          </a:p>
        </p:txBody>
      </p:sp>
    </p:spTree>
    <p:extLst>
      <p:ext uri="{BB962C8B-B14F-4D97-AF65-F5344CB8AC3E}">
        <p14:creationId xmlns:p14="http://schemas.microsoft.com/office/powerpoint/2010/main" val="18428969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61370-7697-4BE1-B33C-4C01D54B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The useful output: an investment research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48433-687D-4AFE-9EC6-EC89DB8A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5C70D-701F-4323-A90A-E0206500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A4B8D-287E-4480-BCE5-72D4374A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0175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defPPr>
            <a:lvl1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1pPr>
            <a:lvl2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2pPr>
            <a:lvl3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3pPr>
            <a:lvl4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4pPr>
            <a:lvl5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5pPr>
            <a:lvl6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6pPr>
            <a:lvl7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7pPr>
            <a:lvl8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8pPr>
            <a:lvl9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6C18C"/>
                </a:solidFill>
                <a:latin typeface="Arial"/>
                <a:ea typeface="Arial"/>
                <a:cs typeface="Arial"/>
              </a:rPr>
              <a:t>Watchlist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58EF1-9D22-49A8-AF5B-715A0FBF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523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What the evidence says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C400F-3807-40C5-91C7-E57D811A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19400"/>
            <a:ext cx="5343525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Q1 FY27 owners’ profit grew 11.8% YoY.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Tax and regulatory effects complicate</a:t>
            </a:r>
          </a:p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recurring earnings.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0F3FB"/>
                </a:solidFill>
                <a:latin typeface="Arial"/>
                <a:ea typeface="Arial"/>
                <a:cs typeface="Arial"/>
              </a:rPr>
              <a:t>Cash after capex does not cover cash interest.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92DC9-DED9-403F-8BB6-E348974E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66850"/>
            <a:ext cx="508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Example price screen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521FE2-86ED-44F4-83D5-CDA0A6EB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66925"/>
            <a:ext cx="50863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₹303.75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71C2B-CDC5-4BFB-97EA-8230991F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5086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28 Oct 2026 close; reported P/E 10.61×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79740-CDAE-4EED-B3BF-8B7B12B0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33775"/>
            <a:ext cx="50863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E6C18C"/>
                </a:solidFill>
                <a:latin typeface="Arial"/>
                <a:ea typeface="Arial"/>
                <a:cs typeface="Arial"/>
              </a:rPr>
              <a:t>₹248.22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7F459-FD80-4E30-892E-AFE8364F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86250"/>
            <a:ext cx="508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6C18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6C18C"/>
                </a:solidFill>
                <a:latin typeface="Arial"/>
                <a:ea typeface="Arial"/>
                <a:cs typeface="Arial"/>
              </a:rPr>
              <a:t>Example entry threshold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2CA03-9B4C-4941-8996-BB7456FF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72025"/>
            <a:ext cx="5086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15% earnings haircut, 12× fair P/E,</a:t>
            </a:r>
          </a:p>
          <a:p xmlns:a="http://schemas.openxmlformats.org/drawingml/2006/main">
            <a: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15% safety margin. Editable assumptions.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76177-0F29-4419-92E5-3C559788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502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A stronger buy case needs recurring earnings, returns from new capacity and a credible funding plan. No return forecast is established.</a:t>
            </a:r>
          </a:p>
        </p:txBody>
      </p:sp>
    </p:spTree>
    <p:extLst>
      <p:ext uri="{BB962C8B-B14F-4D97-AF65-F5344CB8AC3E}">
        <p14:creationId xmlns:p14="http://schemas.microsoft.com/office/powerpoint/2010/main" val="10167769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7AD70-D2E1-4070-96FE-69DC7A13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The generation model adds useful, limited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6CF32-CB5D-478C-B6C3-C05ED103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C64E0-1291-46C9-93A6-0A6A521D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3AF45-7405-4398-A47D-0A1F8A39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1.50%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E860C-9A37-408A-BF44-CBD1779D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9775"/>
            <a:ext cx="409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run-rate average error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D6932-4023-44DD-995D-338544A4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90650"/>
            <a:ext cx="508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2C7B5"/>
                </a:solidFill>
                <a:latin typeface="Arial"/>
                <a:ea typeface="Arial"/>
                <a:cs typeface="Arial"/>
              </a:rPr>
              <a:t>2.20%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3BAAF-F9A2-4E4B-BD87-852F7A12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508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seasonal-profile average error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A232F21E-F547-463C-B496-66D6CF5A31E8}"/>
              </a:ext>
            </a:extLst>
          </p:cNvPr>
          <p:cNvGraphicFramePr/>
          <p:nvPr/>
        </p:nvGraphicFramePr>
        <p:xfrm>
          <a:off xmlns:a="http://schemas.openxmlformats.org/drawingml/2006/main" x="533400" y="2647950"/>
          <a:ext xmlns:a="http://schemas.openxmlformats.org/drawingml/2006/main" cx="1112520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10843050c949c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AE221F-70D2-4064-B5A4-F3B100CC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48300"/>
            <a:ext cx="1112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Run rate wins 5 of 8 quarters. Seasonal profile wins 3.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CA8F8-1191-453E-8066-8416B703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502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Remaining-output error: 3.81% vs 5.54%. Publication proxies and the small sample limit confidence.</a:t>
            </a:r>
          </a:p>
        </p:txBody>
      </p:sp>
    </p:spTree>
    <p:extLst>
      <p:ext uri="{BB962C8B-B14F-4D97-AF65-F5344CB8AC3E}">
        <p14:creationId xmlns:p14="http://schemas.microsoft.com/office/powerpoint/2010/main" val="5111346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55E40-F1B5-4886-B13B-6FD9A207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Cash interest changes the financial 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577BB-6C5C-453D-904B-54DB58B3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55622-4C98-434D-8CA0-8ECD4A15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279EF-289B-4129-BA81-BBE747A8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11125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FY26 cash flows, ₹ crore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E2B0290-1DF9-4475-A847-AD58F2DFB9D3}"/>
              </a:ext>
            </a:extLst>
          </p:cNvPr>
          <p:cNvGraphicFramePr/>
          <p:nvPr/>
        </p:nvGraphicFramePr>
        <p:xfrm>
          <a:off xmlns:a="http://schemas.openxmlformats.org/drawingml/2006/main" x="533400" y="2009775"/>
          <a:ext xmlns:a="http://schemas.openxmlformats.org/drawingml/2006/main" cx="6848475" cy="30765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8dd8aba8504eb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137A3-16BA-4D4C-A8FC-5958356E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00250"/>
            <a:ext cx="3695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Operating cash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325F0A-CDC8-4C4D-971B-2BB9B79B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62200"/>
            <a:ext cx="3695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92C7B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92C7B5"/>
                </a:solidFill>
                <a:latin typeface="Arial"/>
                <a:ea typeface="Arial"/>
                <a:cs typeface="Arial"/>
              </a:rPr>
              <a:t>₹50,901.81 cr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4F2C3-FE2B-4545-BC33-064DFEBC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19425"/>
            <a:ext cx="3695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Cash capital spending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EF46D-0F5E-4E86-8D0B-C5E6187A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81375"/>
            <a:ext cx="3695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₹44,049.78 cr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7956D-DC54-4C22-9381-95418EFD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38600"/>
            <a:ext cx="3695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Cash interest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B83BCD-C12A-4A82-9C83-59DAE7EB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00550"/>
            <a:ext cx="3695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6C18C"/>
                </a:solidFill>
                <a:latin typeface="Arial"/>
                <a:ea typeface="Arial"/>
                <a:cs typeface="Arial"/>
              </a:rPr>
              <a:t>₹17,537.73 cr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9F813-B8EA-4862-A6E5-5BBF16B9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111252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6C1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6C18C"/>
                </a:solidFill>
                <a:latin typeface="Arial"/>
                <a:ea typeface="Arial"/>
                <a:cs typeface="Arial"/>
              </a:rPr>
              <a:t>After capex: +₹6,852 cr. After cash interest: −₹10,686 cr.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83F053-5380-411D-9EF2-BB3474DA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502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NTPC classifies interest in financing. This selected bridge excludes other investing and financing flows.</a:t>
            </a:r>
          </a:p>
        </p:txBody>
      </p:sp>
    </p:spTree>
    <p:extLst>
      <p:ext uri="{BB962C8B-B14F-4D97-AF65-F5344CB8AC3E}">
        <p14:creationId xmlns:p14="http://schemas.microsoft.com/office/powerpoint/2010/main" val="21202349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5A14E-37D9-4B73-8CF3-AA94F15F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What I noticed, and what I would improve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7A9F8-F990-4378-9EB6-0BC2284C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AEA63-1223-458E-9AED-C5376B44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28A144-6ED8-40BC-B672-C29CE7179F84}"/>
              </a:ext>
            </a:extLst>
          </p:cNvPr>
          <p:cNvGraphicFramePr/>
          <p:nvPr/>
        </p:nvGraphicFramePr>
        <p:xfrm>
          <a:off xmlns:a="http://schemas.openxmlformats.org/drawingml/2006/main" x="533400" y="1438275"/>
          <a:ext xmlns:a="http://schemas.openxmlformats.org/drawingml/2006/main" cx="11125200" cy="4162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6457950"/>
              </a:tblGrid>
              <a:tr h="83248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ADC5FF"/>
                          </a:solidFill>
                          <a:latin typeface="Arial"/>
                          <a:ea typeface="Arial"/>
                          <a:cs typeface="Arial"/>
                        </a:rPr>
                        <a:t>Observation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T w="9525">
                      <a:solidFill>
                        <a:srgbClr val="30394A"/>
                      </a:solidFill>
                    </a:lnT>
                    <a:lnB w="9525">
                      <a:solidFill>
                        <a:srgbClr val="30394A"/>
                      </a:solidFill>
                    </a:lnB>
                    <a:solidFill>
                      <a:srgbClr val="253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ADC5FF"/>
                          </a:solidFill>
                          <a:latin typeface="Arial"/>
                          <a:ea typeface="Arial"/>
                          <a:cs typeface="Arial"/>
                        </a:rPr>
                        <a:t>Design choice or next improvement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T w="9525">
                      <a:solidFill>
                        <a:srgbClr val="30394A"/>
                      </a:solidFill>
                    </a:lnT>
                    <a:lnB w="9525">
                      <a:solidFill>
                        <a:srgbClr val="30394A"/>
                      </a:solidFill>
                    </a:lnB>
                    <a:solidFill>
                      <a:srgbClr val="25324A"/>
                    </a:solidFill>
                  </a:tcPr>
                </a:tc>
              </a:tr>
              <a:tr h="8324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Most of the quarter is already known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Show remaining-output error alongside full-quarter MAPE.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  <a:tr h="8324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Publication times are unverified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Use explicit proxies now; capture first-public timestamps and vintages next.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  <a:tr h="8324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Tax and regulatory effects interact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Flag earnings quality; build recurring-earnings and funding scenarios next.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  <a:tr h="83248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Free-form answers can introduce claims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30394A"/>
                      </a:solidFill>
                    </a:lnL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0F3FB"/>
                          </a:solidFill>
                          <a:latin typeface="Arial"/>
                          <a:ea typeface="Arial"/>
                          <a:cs typeface="Arial"/>
                        </a:rPr>
                        <a:t>Prismy renders canonical evidence cards with sources. Expand relevance testing next.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30394A"/>
                      </a:solidFill>
                    </a:lnR>
                    <a:lnB w="9525">
                      <a:solidFill>
                        <a:srgbClr val="30394A"/>
                      </a:solidFill>
                    </a:lnB>
                    <a:solidFill>
                      <a:srgbClr val="0C101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34363-20D2-4E22-8F15-94099E23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502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Broader station coverage and prospective holdout quarters would strengthen the operating study.</a:t>
            </a:r>
          </a:p>
        </p:txBody>
      </p:sp>
    </p:spTree>
    <p:extLst>
      <p:ext uri="{BB962C8B-B14F-4D97-AF65-F5344CB8AC3E}">
        <p14:creationId xmlns:p14="http://schemas.microsoft.com/office/powerpoint/2010/main" val="19403592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C10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5016D-B6E2-4BA5-AB46-3766E1E3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0F3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0F3FB"/>
                </a:solidFill>
                <a:latin typeface="Arial"/>
                <a:ea typeface="Arial"/>
                <a:cs typeface="Arial"/>
              </a:rPr>
              <a:t>The project is ready to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FB781-A844-4B8E-99B0-C2A99937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03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Sutanu Chatterjee  /  PRISM Trial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B0309-0B0A-4704-9D1C-AA9C2D23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7885D-022B-4634-9473-D17EBA3B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38275"/>
            <a:ext cx="11125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Live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F6099-5880-45A2-AE90-6CA0D144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19275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https://ronnismad.github.io/prism-ntpc-research-dashboard/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CBEEB9-2F34-49DF-8CB0-9606C1F4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52700"/>
            <a:ext cx="11125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Code, data and README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F6CA1-6928-40A2-A089-E2E97600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https://github.com/ronnismad/prism-ntpc-research-dashboard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FF24E-1978-4052-8262-D5D70C36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67125"/>
            <a:ext cx="11125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Suggested 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212F5-4C61-407D-A0CF-D6BAADA0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48125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Investment decision, Historical evaluation, Methodology, then a Prismy question.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58A1D-FFE7-4955-87C0-DBAF7EA4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81550"/>
            <a:ext cx="11125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ADC5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DC5FF"/>
                </a:solidFill>
                <a:latin typeface="Arial"/>
                <a:ea typeface="Arial"/>
                <a:cs typeface="Arial"/>
              </a:rPr>
              <a:t>Reproduce locally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AF2FF-8264-407A-90A1-5E96CC37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625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npm install, npm test, npm run dev. The source includes 28 tests and preserved reports.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6756A-9652-49D6-9F3C-CF27CCBD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5025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A7B1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7B1C5"/>
                </a:solidFill>
                <a:latin typeface="Arial"/>
                <a:ea typeface="Arial"/>
                <a:cs typeface="Arial"/>
              </a:rPr>
              <a:t>Prismy on the hosted demo uses instant matching. Local Ollama is an optional mode in the source.</a:t>
            </a:r>
          </a:p>
        </p:txBody>
      </p:sp>
    </p:spTree>
    <p:extLst>
      <p:ext uri="{BB962C8B-B14F-4D97-AF65-F5344CB8AC3E}">
        <p14:creationId xmlns:p14="http://schemas.microsoft.com/office/powerpoint/2010/main" val="6453289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2026-10-28T20:37:42.0240000Z</dcterms:created>
  <dcterms:modified xsi:type="dcterms:W3CDTF">2026-10-28T20:37:42.0240000Z</dcterms:modified>
</coreProperties>
</file>