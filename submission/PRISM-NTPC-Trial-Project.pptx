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3522e8ae744370" /><Relationship Type="http://schemas.openxmlformats.org/officeDocument/2006/relationships/extended-properties" Target="/docProps/app.xml" Id="R7df44983e9574df1" /><Relationship Type="http://schemas.openxmlformats.org/officeDocument/2006/relationships/officeDocument" Target="/ppt/presentation.xml" Id="R536c9c1f376e43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692a303f1c4aab"/>
  </p:sldMasterIdLst>
  <p:notesMasterIdLst>
    <p:notesMasterId xmlns:r="http://schemas.openxmlformats.org/officeDocument/2006/relationships" r:id="R4a23fb171c8c488c"/>
  </p:notesMasterIdLst>
  <p:sldIdLst>
    <p:sldId xmlns:r="http://schemas.openxmlformats.org/officeDocument/2006/relationships" id="256" r:id="R9e5005deb73f415f"/>
    <p:sldId xmlns:r="http://schemas.openxmlformats.org/officeDocument/2006/relationships" id="257" r:id="R4114d23f008a4496"/>
    <p:sldId xmlns:r="http://schemas.openxmlformats.org/officeDocument/2006/relationships" id="258" r:id="Rd82de1b82c42406a"/>
    <p:sldId xmlns:r="http://schemas.openxmlformats.org/officeDocument/2006/relationships" id="259" r:id="Rd90a12652aeb471e"/>
    <p:sldId xmlns:r="http://schemas.openxmlformats.org/officeDocument/2006/relationships" id="260" r:id="R9b1ef4a9a9114588"/>
    <p:sldId xmlns:r="http://schemas.openxmlformats.org/officeDocument/2006/relationships" id="261" r:id="R3ea2695eeedf4c56"/>
    <p:sldId xmlns:r="http://schemas.openxmlformats.org/officeDocument/2006/relationships" id="262" r:id="R74d1ebf269864afd"/>
    <p:sldId xmlns:r="http://schemas.openxmlformats.org/officeDocument/2006/relationships" id="263" r:id="R9d8102e715be4a82"/>
    <p:sldId xmlns:r="http://schemas.openxmlformats.org/officeDocument/2006/relationships" id="264" r:id="Rad29e756efcd4e8b"/>
    <p:sldId xmlns:r="http://schemas.openxmlformats.org/officeDocument/2006/relationships" id="265" r:id="R4a65172f10744746"/>
    <p:sldId xmlns:r="http://schemas.openxmlformats.org/officeDocument/2006/relationships" id="266" r:id="R0fca4c10f272415a"/>
    <p:sldId xmlns:r="http://schemas.openxmlformats.org/officeDocument/2006/relationships" id="267" r:id="R6aa717a2ffd645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b4b8c4d4cd4726" /><Relationship Type="http://schemas.openxmlformats.org/officeDocument/2006/relationships/slideMaster" Target="/ppt/slideMasters/slideMaster1.xml" Id="R15692a303f1c4aab" /><Relationship Type="http://schemas.openxmlformats.org/officeDocument/2006/relationships/notesMaster" Target="/ppt/notesMasters/notesMaster1.xml" Id="R4a23fb171c8c488c" /><Relationship Type="http://schemas.openxmlformats.org/officeDocument/2006/relationships/presProps" Target="/ppt/presProps.xml" Id="R5c62667d45df4556" /><Relationship Type="http://schemas.openxmlformats.org/officeDocument/2006/relationships/tableStyles" Target="/ppt/tableStyles.xml" Id="Rf387f3b2b1e1495d" /><Relationship Type="http://schemas.openxmlformats.org/officeDocument/2006/relationships/slide" Target="/ppt/slides/slide1.xml" Id="R9e5005deb73f415f" /><Relationship Type="http://schemas.openxmlformats.org/officeDocument/2006/relationships/slide" Target="/ppt/slides/slide2.xml" Id="R4114d23f008a4496" /><Relationship Type="http://schemas.openxmlformats.org/officeDocument/2006/relationships/slide" Target="/ppt/slides/slide3.xml" Id="Rd82de1b82c42406a" /><Relationship Type="http://schemas.openxmlformats.org/officeDocument/2006/relationships/slide" Target="/ppt/slides/slide4.xml" Id="Rd90a12652aeb471e" /><Relationship Type="http://schemas.openxmlformats.org/officeDocument/2006/relationships/slide" Target="/ppt/slides/slide5.xml" Id="R9b1ef4a9a9114588" /><Relationship Type="http://schemas.openxmlformats.org/officeDocument/2006/relationships/slide" Target="/ppt/slides/slide6.xml" Id="R3ea2695eeedf4c56" /><Relationship Type="http://schemas.openxmlformats.org/officeDocument/2006/relationships/slide" Target="/ppt/slides/slide7.xml" Id="R74d1ebf269864afd" /><Relationship Type="http://schemas.openxmlformats.org/officeDocument/2006/relationships/slide" Target="/ppt/slides/slide8.xml" Id="R9d8102e715be4a82" /><Relationship Type="http://schemas.openxmlformats.org/officeDocument/2006/relationships/slide" Target="/ppt/slides/slide9.xml" Id="Rad29e756efcd4e8b" /><Relationship Type="http://schemas.openxmlformats.org/officeDocument/2006/relationships/slide" Target="/ppt/slides/slide10.xml" Id="R4a65172f10744746" /><Relationship Type="http://schemas.openxmlformats.org/officeDocument/2006/relationships/slide" Target="/ppt/slides/slide11.xml" Id="R0fca4c10f272415a" /><Relationship Type="http://schemas.openxmlformats.org/officeDocument/2006/relationships/slide" Target="/ppt/slides/slide12.xml" Id="R6aa717a2ffd645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6891da738b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f9b715d5044a20" /><Relationship Type="http://schemas.openxmlformats.org/officeDocument/2006/relationships/notesMaster" Target="/ppt/notesMasters/notesMaster1.xml" Id="R74d00e81a4e14b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8cc03de5a64435" /><Relationship Type="http://schemas.openxmlformats.org/officeDocument/2006/relationships/notesMaster" Target="/ppt/notesMasters/notesMaster1.xml" Id="R6a0ff32bab0e4c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e6aff166d44a15" /><Relationship Type="http://schemas.openxmlformats.org/officeDocument/2006/relationships/notesMaster" Target="/ppt/notesMasters/notesMaster1.xml" Id="Racebe299ad2e4f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5c315850344bb3" /><Relationship Type="http://schemas.openxmlformats.org/officeDocument/2006/relationships/notesMaster" Target="/ppt/notesMasters/notesMaster1.xml" Id="R51e71d89890546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9bd05859ac41cf" /><Relationship Type="http://schemas.openxmlformats.org/officeDocument/2006/relationships/notesMaster" Target="/ppt/notesMasters/notesMaster1.xml" Id="R785ff35b89ee4e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43dd642f11490a" /><Relationship Type="http://schemas.openxmlformats.org/officeDocument/2006/relationships/notesMaster" Target="/ppt/notesMasters/notesMaster1.xml" Id="R14399f8f81db49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369d9fc74b44f5" /><Relationship Type="http://schemas.openxmlformats.org/officeDocument/2006/relationships/notesMaster" Target="/ppt/notesMasters/notesMaster1.xml" Id="R3f42f508cff746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d556137b344a1a" /><Relationship Type="http://schemas.openxmlformats.org/officeDocument/2006/relationships/notesMaster" Target="/ppt/notesMasters/notesMaster1.xml" Id="R2b02cf3c0c9b49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bba0a9b19d44f0" /><Relationship Type="http://schemas.openxmlformats.org/officeDocument/2006/relationships/notesMaster" Target="/ppt/notesMasters/notesMaster1.xml" Id="Rccf435659e244e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eaee19f89a4686" /><Relationship Type="http://schemas.openxmlformats.org/officeDocument/2006/relationships/notesMaster" Target="/ppt/notesMasters/notesMaster1.xml" Id="R0c3f484cd8e34a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62d3df58ee4867" /><Relationship Type="http://schemas.openxmlformats.org/officeDocument/2006/relationships/notesMaster" Target="/ppt/notesMasters/notesMaster1.xml" Id="Rf18492490f4845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faee8c102549ee" /><Relationship Type="http://schemas.openxmlformats.org/officeDocument/2006/relationships/notesMaster" Target="/ppt/notesMasters/notesMaster1.xml" Id="Rf1194532c54d42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trial task. Author: Sutanu Chatterjee. Prepared 29 October 2026. Repository: https://github.com/ronnismad/prism-ntpc-research-dashboard. Demo: https://ronnismad.github.io/prism-ntpc-research-dashboard/. Scope and results: repository README and docs/BACKTEST_RESULTS.md.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Requirements paraphrased from the user-provided Short Trial Project screenshot. The original asks for problem definition, a working prototype, a useful result and documented approach, assumptions, limitations and improvements. No time-spent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https://github.com/ronnismad/prism-ntpc-research-dashboard/blob/main/src/MethodFlow.jsx</a:t>
            </a:r>
          </a:p>
          <a:p xmlns:a="http://schemas.openxmlformats.org/drawingml/2006/main">
            <a:r>
              <a:t>https://github.com/ronnismad/prism-ntpc-research-dashboard/blob/main/README.md</a:t>
            </a:r>
          </a:p>
          <a:p xmlns:a="http://schemas.openxmlformats.org/drawingml/2006/main">
            <a:r>
              <a:t>https://nsearchives.nseindia.com/corporate/9425178051_23052026151711_NTPCAFR26.pdf</a:t>
            </a:r>
          </a:p>
          <a:p xmlns:a="http://schemas.openxmlformats.org/drawingml/2006/main">
            <a:r>
              <a:t>https://ntpc.co.in/sites/default/files/financial_results/2026/QFRQ1FY27.pdf</a:t>
            </a:r>
          </a:p>
          <a:p xmlns:a="http://schemas.openxmlformats.org/drawingml/2006/main">
            <a:r>
              <a:t>Later actuals enter generation scoring only. Source availability uses a printed-date proxy, not a verified first-public timestamp.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https://github.com/ronnismad/prism-ntpc-research-dashboard/blob/main/README.md</a:t>
            </a:r>
          </a:p>
          <a:p xmlns:a="http://schemas.openxmlformats.org/drawingml/2006/main">
            <a:r>
              <a:t>Screenshot: actual local dashboard, docs/project-preview.png. React/Vite application. Seven views, hash navigation, dark/light themes, CSV exports and source inspection.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https://github.com/ronnismad/prism-ntpc-research-dashboard/blob/main/docs/BACKTEST_RESULTS.md</a:t>
            </a:r>
          </a:p>
          <a:p xmlns:a="http://schemas.openxmlformats.org/drawingml/2006/main">
            <a:r>
              <a:t>https://github.com/ronnismad/prism-ntpc-research-dashboard/blob/main/docs/backtest-day-60.csv</a:t>
            </a:r>
          </a:p>
          <a:p xmlns:a="http://schemas.openxmlformats.org/drawingml/2006/main">
            <a:r>
              <a:t>Day-60 results computed from src/data/backtest.json using src/backtest.js. Full-quarter MAPE weights eight distinct quarters equally. Remaining-period errors exclude already observed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https://nsearchives.nseindia.com/corporate/9425178051_23052026151711_NTPCAFR26.pdf PDF pages 16–18, 20, 22.</a:t>
            </a:r>
          </a:p>
          <a:p xmlns:a="http://schemas.openxmlformats.org/drawingml/2006/main">
            <a:r>
              <a:t>https://ntpc.co.in/sites/default/files/financial_results/2026/QFRQ1FY27.pdf PDF pages 10–11.</a:t>
            </a:r>
          </a:p>
          <a:p xmlns:a="http://schemas.openxmlformats.org/drawingml/2006/main">
            <a:r>
              <a:t>Financial values: src/data/financials.json. Annual presentation retains original May revenue figures. July reclassifies FY26 revenue/other income without changing total income or profit. Owners' profit and group profit are labelled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https://nsearchives.nseindia.com/corporate/9425178051_23052026151711_NTPCAFR26.pdf PDF page 20, consolidated statement of cash flows. CFO 50901.81; gross cash capex 44049.78; cash interest 17537.73; dividends paid 8759.26, all ₹ crore. Financing interest is separate from CFO. This selected bridge excludes other investing/financing flows and does not equal the change in cash.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https://nsearchives.nseindia.com/corporate/9425178051_23052026151711_NTPCAFR26.pdf EPS page 17 and dividend recommendation page 2.</a:t>
            </a:r>
          </a:p>
          <a:p xmlns:a="http://schemas.openxmlformats.org/drawingml/2006/main">
            <a:r>
              <a:t>https://ntpc.co.in/sites/default/files/financial_results/2026/QFRQ1FY27.pdf EPS page 11.</a:t>
            </a:r>
          </a:p>
          <a:p xmlns:a="http://schemas.openxmlformats.org/drawingml/2006/main">
            <a:r>
              <a:t>https://nsearchives.nseindia.com/products/content/sec_bhavdata_full_28102026.csv</a:t>
            </a:r>
          </a:p>
          <a:p xmlns:a="http://schemas.openxmlformats.org/drawingml/2006/main">
            <a:r>
              <a:t>Price: 303.75 on 28 Oct 2026. TTM EPS 27.90 + 6.93 − 6.20 = 28.63. Example assumptions: 15% earnings haircut, 12× fair P/E and 15% margin of safety. Illustrations are not peer-calibrated or company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https://github.com/ronnismad/prism-ntpc-research-dashboard/blob/main/src/knowledge.js</a:t>
            </a:r>
          </a:p>
          <a:p xmlns:a="http://schemas.openxmlformats.org/drawingml/2006/main">
            <a:r>
              <a:t>https://github.com/ronnismad/prism-ntpc-research-dashboard/blob/main/src/ResearchAssistant.jsx</a:t>
            </a:r>
          </a:p>
          <a:p xmlns:a="http://schemas.openxmlformats.org/drawingml/2006/main">
            <a:r>
              <a:t>https://github.com/ronnismad/prism-ntpc-research-dashboard/blob/main/scripts/assistant_server.mjs</a:t>
            </a:r>
          </a:p>
          <a:p xmlns:a="http://schemas.openxmlformats.org/drawingml/2006/main">
            <a:r>
              <a:t>Screenshot: docs/prismy-preview.png. 14 canonical evidence cards and six preset questions. Model selects IDs only; client renders canonical text and citations. Five local smoke cases passed. Hosted GitHub Pages runs instant mode only; Ollama mode remains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https://github.com/ronnismad/prism-ntpc-research-dashboard/blob/main/README.md</a:t>
            </a:r>
          </a:p>
          <a:p xmlns:a="http://schemas.openxmlformats.org/drawingml/2006/main">
            <a:r>
              <a:t>https://nsearchives.nseindia.com/corporate/9425178051_23052026151711_NTPCAFR26.pdf PDF pages 20 and 22.</a:t>
            </a:r>
          </a:p>
          <a:p xmlns:a="http://schemas.openxmlformats.org/drawingml/2006/main">
            <a:r>
              <a:t>https://github.com/ronnismad/prism-ntpc-research-dashboard/blob/main/docs/BACKTEST_RESULTS.md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https://github.com/ronnismad/prism-ntpc-research-dashboard/blob/main/README.md. These are proposed improvements, not completed features. No durable statistical edge, whole-company generation forecast or stock-return backtest has been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https://github.com/ronnismad/prism-ntpc-research-dashboard</a:t>
            </a:r>
          </a:p>
          <a:p xmlns:a="http://schemas.openxmlformats.org/drawingml/2006/main">
            <a:r>
              <a:t>https://ronnismad.github.io/prism-ntpc-research-dashboard/</a:t>
            </a:r>
          </a:p>
          <a:p xmlns:a="http://schemas.openxmlformats.org/drawingml/2006/main">
            <a:r>
              <a:t>See README for local setup, source definitions and limitations. Tests: 28 automated checks. Local run: npm install, npm run dev. Production build: npm run build. Source originals included under public/sources.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78eb1357441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5fbcbd2e543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a6d20b19c41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dded60ef140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4ee23a87b4a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e6a33842d4e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68C137-8EC1-4247-8623-816EBD4980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210CF4-ACF0-4BD8-A41B-34DB20ED88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CD1A8E-6D89-474B-9EE1-DA952B89B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5B22E7-230B-4FE0-8185-233D29550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12B6C8-D0BD-41A1-9CCF-6FBD87EFAD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C5B55F-EA7A-48A9-82A3-07AE2F1F9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78582D-0E54-4F55-8F5D-128673EC41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1203C5-3CE7-48D6-B700-BB0276E05E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6A3575-34FC-408D-9CE2-54665A9175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D48DC1-58E5-4C63-A278-55735FCEA4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eaba678abe45bb" /><Relationship Type="http://schemas.openxmlformats.org/officeDocument/2006/relationships/slideLayout" Target="/ppt/slideLayouts/slideLayout1.xml" Id="Rb365f8cd64ae4519" /><Relationship Type="http://schemas.openxmlformats.org/officeDocument/2006/relationships/slideLayout" Target="/ppt/slideLayouts/slideLayout2.xml" Id="Rc8d53a4846b3439e" /><Relationship Type="http://schemas.openxmlformats.org/officeDocument/2006/relationships/slideLayout" Target="/ppt/slideLayouts/slideLayout3.xml" Id="Rfea312ea11d94eb9" /><Relationship Type="http://schemas.openxmlformats.org/officeDocument/2006/relationships/slideLayout" Target="/ppt/slideLayouts/slideLayout4.xml" Id="Rab501ee10382412c" /><Relationship Type="http://schemas.openxmlformats.org/officeDocument/2006/relationships/slideLayout" Target="/ppt/slideLayouts/slideLayout5.xml" Id="Rb62d2026ee6c497a" /><Relationship Type="http://schemas.openxmlformats.org/officeDocument/2006/relationships/slideLayout" Target="/ppt/slideLayouts/slideLayout6.xml" Id="Ra4402ebbe99e42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65f8cd64ae4519"/>
    <p:sldLayoutId xmlns:r="http://schemas.openxmlformats.org/officeDocument/2006/relationships" id="2147483650" r:id="Rc8d53a4846b3439e"/>
    <p:sldLayoutId xmlns:r="http://schemas.openxmlformats.org/officeDocument/2006/relationships" id="2147483651" r:id="Rfea312ea11d94eb9"/>
    <p:sldLayoutId xmlns:r="http://schemas.openxmlformats.org/officeDocument/2006/relationships" id="2147483652" r:id="Rab501ee10382412c"/>
    <p:sldLayoutId xmlns:r="http://schemas.openxmlformats.org/officeDocument/2006/relationships" id="2147483653" r:id="Rb62d2026ee6c497a"/>
    <p:sldLayoutId xmlns:r="http://schemas.openxmlformats.org/officeDocument/2006/relationships" id="2147483654" r:id="Ra4402ebbe99e42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27668f1204f0c" /><Relationship Type="http://schemas.openxmlformats.org/officeDocument/2006/relationships/notesSlide" Target="/ppt/notesSlides/notesSlide1.xml" Id="R364a20452cb74f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de9db35a0f499d" /><Relationship Type="http://schemas.openxmlformats.org/officeDocument/2006/relationships/notesSlide" Target="/ppt/notesSlides/notesSlide2.xml" Id="R4bc7948f7e1545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e1172c5ff4a4d" /><Relationship Type="http://schemas.openxmlformats.org/officeDocument/2006/relationships/notesSlide" Target="/ppt/notesSlides/notesSlide3.xml" Id="R982e728ce7c448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d789f14b74833" /><Relationship Type="http://schemas.openxmlformats.org/officeDocument/2006/relationships/image" Target="/ppt/media/image.jpeg" Id="R455ddb39ea72479c" /><Relationship Type="http://schemas.openxmlformats.org/officeDocument/2006/relationships/notesSlide" Target="/ppt/notesSlides/notesSlide4.xml" Id="Re18afb91b83541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56956a31444dd" /><Relationship Type="http://schemas.openxmlformats.org/officeDocument/2006/relationships/chart" Target="/ppt/slides/charts/chart1.xml" Id="Rbac14dd0c83944be" /><Relationship Type="http://schemas.openxmlformats.org/officeDocument/2006/relationships/notesSlide" Target="/ppt/notesSlides/notesSlide5.xml" Id="R7b36ef4ff69e4c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0efe5be3db43af" /><Relationship Type="http://schemas.openxmlformats.org/officeDocument/2006/relationships/notesSlide" Target="/ppt/notesSlides/notesSlide6.xml" Id="Rcc2a4fb9f8414b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5de77e12f471c" /><Relationship Type="http://schemas.openxmlformats.org/officeDocument/2006/relationships/chart" Target="/ppt/slides/charts/chart2.xml" Id="R48b494063cdc404e" /><Relationship Type="http://schemas.openxmlformats.org/officeDocument/2006/relationships/notesSlide" Target="/ppt/notesSlides/notesSlide7.xml" Id="R7822d3dbc4a541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450ace37aa493c" /><Relationship Type="http://schemas.openxmlformats.org/officeDocument/2006/relationships/notesSlide" Target="/ppt/notesSlides/notesSlide8.xml" Id="R160c7e4311274a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125cb0c9c4d1e" /><Relationship Type="http://schemas.openxmlformats.org/officeDocument/2006/relationships/image" Target="/ppt/media/image2.jpeg" Id="R45cb1715a5464dc2" /><Relationship Type="http://schemas.openxmlformats.org/officeDocument/2006/relationships/notesSlide" Target="/ppt/notesSlides/notesSlide9.xml" Id="Rcc6d00d56acc45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a0928c5cef4eb6" /><Relationship Type="http://schemas.openxmlformats.org/officeDocument/2006/relationships/notesSlide" Target="/ppt/notesSlides/notesSlide10.xml" Id="R96e9daccf55548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7520008fbd4d65" /><Relationship Type="http://schemas.openxmlformats.org/officeDocument/2006/relationships/notesSlide" Target="/ppt/notesSlides/notesSlide11.xml" Id="Rd58a17d7e0b14c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2711e98194896" /><Relationship Type="http://schemas.openxmlformats.org/officeDocument/2006/relationships/notesSlide" Target="/ppt/notesSlides/notesSlide12.xml" Id="R6b4d8020e27a4e3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Run rate</c:v>
          </c:tx>
          <c:spPr>
            <a:solidFill xmlns:a="http://schemas.openxmlformats.org/drawingml/2006/main">
              <a:srgbClr val="ADC5FF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Q1 FY25</c:v>
                </c:pt>
                <c:pt idx="1">
                  <c:v>Q2 FY25</c:v>
                </c:pt>
                <c:pt idx="2">
                  <c:v>Q3 FY25</c:v>
                </c:pt>
                <c:pt idx="3">
                  <c:v>Q4 FY25</c:v>
                </c:pt>
                <c:pt idx="4">
                  <c:v>Q1 FY26</c:v>
                </c:pt>
                <c:pt idx="5">
                  <c:v>Q2 FY26</c:v>
                </c:pt>
                <c:pt idx="6">
                  <c:v>Q3 FY26</c:v>
                </c:pt>
                <c:pt idx="7">
                  <c:v>Q4 FY26</c:v>
                </c:pt>
              </c:strCache>
            </c:strRef>
          </c:cat>
          <c:val>
            <c:numRef>
              <c:f>'Chart Data'!$B$2:$B$9</c:f>
              <c:numCache>
                <c:formatCode>0.0"%"</c:formatCode>
                <c:ptCount val="8"/>
                <c:pt idx="0">
                  <c:v>0.996231</c:v>
                </c:pt>
                <c:pt idx="1">
                  <c:v>0.691558</c:v>
                </c:pt>
                <c:pt idx="2">
                  <c:v>1.346983</c:v>
                </c:pt>
                <c:pt idx="3">
                  <c:v>0.006524</c:v>
                </c:pt>
                <c:pt idx="4">
                  <c:v>2.746807</c:v>
                </c:pt>
                <c:pt idx="5">
                  <c:v>3.106941</c:v>
                </c:pt>
                <c:pt idx="6">
                  <c:v>3.114756</c:v>
                </c:pt>
                <c:pt idx="7">
                  <c:v>0.003612</c:v>
                </c:pt>
              </c:numCache>
            </c:numRef>
          </c:val>
        </c:ser>
        <c:ser>
          <c:idx val="1"/>
          <c:order val="1"/>
          <c:tx>
            <c:v>Seasonal profile</c:v>
          </c:tx>
          <c:spPr>
            <a:solidFill xmlns:a="http://schemas.openxmlformats.org/drawingml/2006/main">
              <a:srgbClr val="92C7B5"/>
            </a:solidFill>
          </c:spPr>
          <c:invertIfNegative val="0"/>
          <c:cat>
            <c:strRef>
              <c:f>'Chart Data'!$C$2:$C$9</c:f>
              <c:strCache>
                <c:ptCount val="8"/>
                <c:pt idx="0">
                  <c:v>Q1 FY25</c:v>
                </c:pt>
                <c:pt idx="1">
                  <c:v>Q2 FY25</c:v>
                </c:pt>
                <c:pt idx="2">
                  <c:v>Q3 FY25</c:v>
                </c:pt>
                <c:pt idx="3">
                  <c:v>Q4 FY25</c:v>
                </c:pt>
                <c:pt idx="4">
                  <c:v>Q1 FY26</c:v>
                </c:pt>
                <c:pt idx="5">
                  <c:v>Q2 FY26</c:v>
                </c:pt>
                <c:pt idx="6">
                  <c:v>Q3 FY26</c:v>
                </c:pt>
                <c:pt idx="7">
                  <c:v>Q4 FY26</c:v>
                </c:pt>
              </c:strCache>
            </c:strRef>
          </c:cat>
          <c:val>
            <c:numRef>
              <c:f>'Chart Data'!$D$2:$D$9</c:f>
              <c:numCache>
                <c:formatCode>0.0"%"</c:formatCode>
                <c:ptCount val="8"/>
                <c:pt idx="0">
                  <c:v>1.799004</c:v>
                </c:pt>
                <c:pt idx="1">
                  <c:v>3.586125</c:v>
                </c:pt>
                <c:pt idx="2">
                  <c:v>0.646124</c:v>
                </c:pt>
                <c:pt idx="3">
                  <c:v>3.018842</c:v>
                </c:pt>
                <c:pt idx="4">
                  <c:v>1.733308</c:v>
                </c:pt>
                <c:pt idx="5">
                  <c:v>2.398794</c:v>
                </c:pt>
                <c:pt idx="6">
                  <c:v>4.402439</c:v>
                </c:pt>
                <c:pt idx="7">
                  <c:v>0.010136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0394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0394A"/>
              </a:solidFill>
            </a:ln>
          </c:spPr>
        </c:majorGridlines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C101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A7B1C5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01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₹ crore</c:v>
          </c:tx>
          <c:spPr>
            <a:solidFill xmlns:a="http://schemas.openxmlformats.org/drawingml/2006/main">
              <a:srgbClr val="ADC5F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92C7B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79AB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79AB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79AB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6C18C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Operating cash</c:v>
                </c:pt>
                <c:pt idx="1">
                  <c:v>Cash capex</c:v>
                </c:pt>
                <c:pt idx="2">
                  <c:v>Cash interest</c:v>
                </c:pt>
                <c:pt idx="3">
                  <c:v>Cash dividends</c:v>
                </c:pt>
                <c:pt idx="4">
                  <c:v>Residual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50901.81</c:v>
                </c:pt>
                <c:pt idx="1">
                  <c:v>-44049.78</c:v>
                </c:pt>
                <c:pt idx="2">
                  <c:v>-17537.73</c:v>
                </c:pt>
                <c:pt idx="3">
                  <c:v>-8759.26</c:v>
                </c:pt>
                <c:pt idx="4">
                  <c:v>-19444.96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F0F3F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0394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C101A"/>
        </a:solidFill>
      </c:spPr>
    </c:plotArea>
    <c:plotVisOnly val="1"/>
  </c:chart>
  <c:spPr>
    <a:solidFill xmlns:a="http://schemas.openxmlformats.org/drawingml/2006/main">
      <a:srgbClr val="0C101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327A3-B166-4B20-96DF-91EDB83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PRISM Energy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9A2C5-F57B-4B16-BE76-5B4F3DAA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FBEEB-6972-498A-AE09-9F46FFE4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BF6F0-9B09-435F-999D-69384621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NTPC generation and investment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E3721-C51E-4F44-ABF6-9272B5B4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A working prototype with dated evidence, historical evaluation,</a:t>
            </a:r>
          </a:p>
          <a:p xmlns:a="http://schemas.openxmlformats.org/drawingml/2006/main">
            <a:pPr>
              <a:defRPr sz="21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financial context and a grounded research assistant.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AA93C-F1F8-4E2A-BA0C-0565C50B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1.50%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B33B3-BCF1-4500-9D4A-DEB12F87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day-60 generation MAPE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F7F6C-6C7E-41F5-AE35-3EBA2485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38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8 quarters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8ACC3-D56E-49AB-AE48-8DFE4D2D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625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historical comparisons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29143-3D76-447A-83F3-3992A8BF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38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53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2DC96-66C2-4F72-B745-44DC3664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625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unique CEA originals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16CFC-557B-4E02-B4ED-9C7A453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Developed by Sutanu Chatterjee (Trial Task for PRISM)</a:t>
            </a:r>
          </a:p>
        </p:txBody>
      </p:sp>
    </p:spTree>
    <p:extLst>
      <p:ext uri="{BB962C8B-B14F-4D97-AF65-F5344CB8AC3E}">
        <p14:creationId xmlns:p14="http://schemas.microsoft.com/office/powerpoint/2010/main" val="1716380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AF22E-4BF9-473D-88CF-8829DCDB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The project answers each part of the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8EFEB-E62C-493E-B386-E0EB6C5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9A194-DA30-48A3-8D1C-E35F3FAA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EF2A2-5E75-43FF-88C2-80E9A299F64E}"/>
              </a:ext>
            </a:extLst>
          </p:cNvPr>
          <p:cNvGraphicFramePr/>
          <p:nvPr/>
        </p:nvGraphicFramePr>
        <p:xfrm>
          <a:off xmlns:a="http://schemas.openxmlformats.org/drawingml/2006/main" x="533400" y="1428750"/>
          <a:ext xmlns:a="http://schemas.openxmlformats.org/drawingml/2006/main" cx="111252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696200"/>
              </a:tblGrid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DC5FF"/>
                          </a:solidFill>
                          <a:latin typeface="Arial"/>
                          <a:ea typeface="Arial"/>
                          <a:cs typeface="Arial"/>
                        </a:rPr>
                        <a:t>Brief requirement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0394A"/>
                      </a:solidFill>
                    </a:lnL>
                    <a:lnR w="9525">
                      <a:solidFill>
                        <a:srgbClr val="30394A"/>
                      </a:solidFill>
                    </a:lnR>
                    <a:lnT w="9525">
                      <a:solidFill>
                        <a:srgbClr val="30394A"/>
                      </a:solidFill>
                    </a:lnT>
                    <a:lnB w="9525">
                      <a:solidFill>
                        <a:srgbClr val="30394A"/>
                      </a:solidFill>
                    </a:lnB>
                    <a:solidFill>
                      <a:srgbClr val="25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ADC5FF"/>
                          </a:solidFill>
                          <a:latin typeface="Arial"/>
                          <a:ea typeface="Arial"/>
                          <a:cs typeface="Arial"/>
                        </a:rPr>
                        <a:t>Completed project response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T w="9525">
                      <a:solidFill>
                        <a:srgbClr val="30394A"/>
                      </a:solidFill>
                    </a:lnT>
                    <a:lnB w="9525">
                      <a:solidFill>
                        <a:srgbClr val="30394A"/>
                      </a:solidFill>
                    </a:lnB>
                    <a:solidFill>
                      <a:srgbClr val="25324A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Define the problem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0394A"/>
                      </a:solidFill>
                    </a:lnL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Help an analyst assess early operating momentum and the financial case for NTPC.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Build a working prototype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0394A"/>
                      </a:solidFill>
                    </a:lnL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React dashboard, public reports, a fixed station sample, transparent calculations and dated inputs.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Present the result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0394A"/>
                      </a:solidFill>
                    </a:lnL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Generation evaluation, financial assessment, valuation scenarios, source audits and Prismy.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Document the work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0394A"/>
                      </a:solidFill>
                    </a:lnL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README, source manifests, tests, setup, findings, limitations and the next improvements.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DCF91-EA91-4F3E-87DB-B8CCA697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The scope prioritises inspectable research and judgment over a production trading model.</a:t>
            </a:r>
          </a:p>
        </p:txBody>
      </p:sp>
    </p:spTree>
    <p:extLst>
      <p:ext uri="{BB962C8B-B14F-4D97-AF65-F5344CB8AC3E}">
        <p14:creationId xmlns:p14="http://schemas.microsoft.com/office/powerpoint/2010/main" val="2116209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442345-A0BE-4FF6-BF89-298684A6A929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6096000" y="5095875"/>
            <a:ext cx="2933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394A"/>
            </a:solidFill>
            <a:tailEnd type="triangle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38AE7F-77AA-43A8-B8FC-FF2CBB4CDCCB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3162300" y="5095875"/>
            <a:ext cx="2933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394A"/>
            </a:solidFill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60BA54-916B-4CBE-8A0A-9E700950475A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029700" y="42195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2C7B5"/>
            </a:solidFill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6ECB5A-E3D0-4F58-B2B4-7FFB3BD00CF4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9029700" y="33432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2C7B5"/>
            </a:solidFill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B4FCB0-E9CC-4B01-BA23-E6FE6BCB017B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029700" y="24669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2C7B5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D570F-81A4-4EF2-9002-979875D42E6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162300" y="42195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DC5FF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F7E01-9CBD-4C10-9AA7-7409E76F2A67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62300" y="33432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DC5FF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ED752-5191-41AC-B247-2BCE1603FA6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162300" y="24669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DC5FF"/>
            </a:solidFill>
            <a:tailEnd type="triangle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14BC70-59A5-4A55-ADA0-A48A41C8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Two evidence streams meet in the research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17032-FABF-4F72-BE22-BCCB2EC7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021A2-162A-4D58-9C76-5D7CF277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DFA98-250F-444E-A2D7-D81C649B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Operating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678AE-19C5-4F2A-9F96-2AD7A3B0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525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1B29"/>
          </a:solidFill>
          <a:ln xmlns:a="http://schemas.openxmlformats.org/drawingml/2006/main" w="9525">
            <a:solidFill>
              <a:srgbClr val="3039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E3560-EC8B-4561-B567-F4D2F911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Public CEA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062D0-FB2A-404A-96E0-2AC0624F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Same eight thermal station IDs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34785-FAFF-45FA-A530-5FCBA974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38425"/>
            <a:ext cx="525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1B29"/>
          </a:solidFill>
          <a:ln xmlns:a="http://schemas.openxmlformats.org/drawingml/2006/main" w="9525">
            <a:solidFill>
              <a:srgbClr val="3039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BD43C-352F-460C-9BA0-A3AEF4F9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Historical cutoff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99E91-ADAC-482A-BB8E-228A8F56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Only eligible captured 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7F059-B1A8-4FEA-96A4-27CB1E0B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4725"/>
            <a:ext cx="525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1B29"/>
          </a:solidFill>
          <a:ln xmlns:a="http://schemas.openxmlformats.org/drawingml/2006/main" w="9525">
            <a:solidFill>
              <a:srgbClr val="3039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D4716-8BF3-4F19-8C22-DAA57F9B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Quarter estimate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3B44E-DCCA-4EC2-8FCC-1146ECFE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95725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Run rate and two comparison baselines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9CBEF-0816-4116-BAC5-4C7B9CE4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525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1B29"/>
          </a:solidFill>
          <a:ln xmlns:a="http://schemas.openxmlformats.org/drawingml/2006/main" w="9525">
            <a:solidFill>
              <a:srgbClr val="30394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AFE66-DF94-429D-B3D3-DCC178D5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Later outcome scoring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7F0AC-3828-479A-9725-BC148106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2025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Eight quarters and all three cutoffs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2F298-814A-473B-A4F7-F74DD26C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954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2C7B5"/>
                </a:solidFill>
                <a:latin typeface="Arial"/>
                <a:ea typeface="Arial"/>
                <a:cs typeface="Arial"/>
              </a:rPr>
              <a:t>Financial snapshot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70509-41E1-4DA3-9EA6-DDEB0AC5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525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1B29"/>
          </a:solidFill>
          <a:ln xmlns:a="http://schemas.openxmlformats.org/drawingml/2006/main" w="9525">
            <a:solidFill>
              <a:srgbClr val="3039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34925-42D8-4407-BD49-CAA95CD8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Consolidated filings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E150E7-57D0-4A11-A5C2-D4B720F1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Annual results and June-quarter results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367CC-F83C-4A7C-9D62-4C146E1C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525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1B29"/>
          </a:solidFill>
          <a:ln xmlns:a="http://schemas.openxmlformats.org/drawingml/2006/main" w="9525">
            <a:solidFill>
              <a:srgbClr val="30394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0FEC8-12B7-4AAE-B523-9822144F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Earnings, cash and debt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B85DB9-4547-4A82-9C6D-ECFCE54F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9425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Tax effects and financing interest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5887B8-1029-43B6-BE0B-04A7A6B8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14725"/>
            <a:ext cx="525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1B29"/>
          </a:solidFill>
          <a:ln xmlns:a="http://schemas.openxmlformats.org/drawingml/2006/main" w="9525">
            <a:solidFill>
              <a:srgbClr val="30394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2CC61-9FDD-479C-9C6F-C69EBD74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Dated NSE close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FE0E7E-EF9D-4E1C-8DF3-E9375415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95725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28 October 2026 price snapshot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68D61A-1BD9-459A-9100-83CC605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91025"/>
            <a:ext cx="525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1B29"/>
          </a:solidFill>
          <a:ln xmlns:a="http://schemas.openxmlformats.org/drawingml/2006/main" w="9525">
            <a:solidFill>
              <a:srgbClr val="30394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CCF2A1-D43B-4438-8318-32A83D93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8627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Valuation assumptions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4FCEB-1167-4439-9380-4EA2CEEB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72025"/>
            <a:ext cx="490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Earnings haircut, P/E and safety margin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226A2C-3861-4713-91EF-EB2C995B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223049"/>
          </a:solidFill>
          <a:ln xmlns:a="http://schemas.openxmlformats.org/drawingml/2006/main" w="9525">
            <a:solidFill>
              <a:srgbClr val="30394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BF92F5-4F80-4DAF-AA98-F67CCAC5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Research assessment and Prismy’s source-linked answers</a:t>
            </a:r>
          </a:p>
        </p:txBody>
      </p:sp>
    </p:spTree>
    <p:extLst>
      <p:ext uri="{BB962C8B-B14F-4D97-AF65-F5344CB8AC3E}">
        <p14:creationId xmlns:p14="http://schemas.microsoft.com/office/powerpoint/2010/main" val="1995470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74789-53AD-40D6-AB75-1C78C2E6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The dashboard makes evidence easy to inspect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0229D-2F08-4A26-AE30-5F59E66A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8B998-9C56-4540-82ED-1F91A309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2C2CD-1B9F-4AED-9472-ADF51B3905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ddb39ea72479c"/>
          <a:stretch xmlns:a="http://schemas.openxmlformats.org/drawingml/2006/main"/>
        </p:blipFill>
        <p:spPr>
          <a:xfrm xmlns:a="http://schemas.openxmlformats.org/drawingml/2006/main">
            <a:off x="632298" y="1333500"/>
            <a:ext cx="6317303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92AF8-DA11-45E5-A80F-0544B9B7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47825"/>
            <a:ext cx="421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Seven research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47115-06A3-4AC5-958A-9A596793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28825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Operations, evaluation, financials, sources and methodology.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22061-4D04-40C1-8A9F-142ADAFF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71800"/>
            <a:ext cx="421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Traceable outputs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82E7D-542F-4946-B81D-2DF91A75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Open preserved PDFs, inspect source rows and export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8AA4B-8B12-40F6-A2C3-460F3C0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95775"/>
            <a:ext cx="421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Simple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B3970-7FE5-4685-B163-DBBAA38F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76775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Static hosted demo and reproducible local setup.</a:t>
            </a:r>
          </a:p>
        </p:txBody>
      </p:sp>
    </p:spTree>
    <p:extLst>
      <p:ext uri="{BB962C8B-B14F-4D97-AF65-F5344CB8AC3E}">
        <p14:creationId xmlns:p14="http://schemas.microsoft.com/office/powerpoint/2010/main" val="1396574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B4BCB-9465-4009-901E-78E7FB1A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Run rate improves on the seasonal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560F3-D39C-4863-9EA8-AD2D219A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1DB3E-B838-401B-9535-B3DAE64E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BDB72-2210-4989-951C-E192A667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1.50%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E21E9-02F9-4F89-B6E6-CB25FA4A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run-rate MAPE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10E97-05B0-4ACE-99AE-D72515BC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92C7B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92C7B5"/>
                </a:solidFill>
                <a:latin typeface="Arial"/>
                <a:ea typeface="Arial"/>
                <a:cs typeface="Arial"/>
              </a:rPr>
              <a:t>2.20%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5D4E1-62F1-4DC0-B491-236CCF63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7167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seasonal-profile MAPE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ED1E3-CF7A-4DBE-820B-E6B66968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2AEA3-02C2-4FED-BEC3-DEF13232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quarters beating seasonal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E4EEA277-02E8-4A2D-8933-ECA36E9F4BC2}"/>
              </a:ext>
            </a:extLst>
          </p:cNvPr>
          <p:cNvGraphicFramePr/>
          <p:nvPr/>
        </p:nvGraphicFramePr>
        <p:xfrm>
          <a:off xmlns:a="http://schemas.openxmlformats.org/drawingml/2006/main" x="533400" y="2543175"/>
          <a:ext xmlns:a="http://schemas.openxmlformats.org/drawingml/2006/main" cx="111252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c14dd0c83944b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8D626-B65B-44A3-9830-85A5034E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Remaining-output MAPE: 3.81% vs 5.54%. Small sample, publication proxies and correlated cutoffs limit confidence.</a:t>
            </a:r>
          </a:p>
        </p:txBody>
      </p:sp>
    </p:spTree>
    <p:extLst>
      <p:ext uri="{BB962C8B-B14F-4D97-AF65-F5344CB8AC3E}">
        <p14:creationId xmlns:p14="http://schemas.microsoft.com/office/powerpoint/2010/main" val="1049152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1630F-EA1F-4E9A-B8F7-90E79D44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Tax effects and reinvestment complicate the buy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5FD1A-3217-43F2-80E4-10E634DA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68C3C-8F37-44DA-8DD3-E729CDCD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59B73-E2B7-4957-94EC-1D699CE03CDD}"/>
              </a:ext>
            </a:extLst>
          </p:cNvPr>
          <p:cNvGraphicFramePr/>
          <p:nvPr/>
        </p:nvGraphicFramePr>
        <p:xfrm>
          <a:off xmlns:a="http://schemas.openxmlformats.org/drawingml/2006/main" x="533400" y="1419225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286000"/>
                <a:gridCol w="426720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DC5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0394A"/>
                      </a:solidFill>
                    </a:lnL>
                    <a:lnR w="9525">
                      <a:solidFill>
                        <a:srgbClr val="30394A"/>
                      </a:solidFill>
                    </a:lnR>
                    <a:lnT w="9525">
                      <a:solidFill>
                        <a:srgbClr val="30394A"/>
                      </a:solidFill>
                    </a:lnT>
                    <a:lnB w="9525">
                      <a:solidFill>
                        <a:srgbClr val="30394A"/>
                      </a:solidFill>
                    </a:lnB>
                    <a:solidFill>
                      <a:srgbClr val="25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DC5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T w="9525">
                      <a:solidFill>
                        <a:srgbClr val="30394A"/>
                      </a:solidFill>
                    </a:lnT>
                    <a:lnB w="9525">
                      <a:solidFill>
                        <a:srgbClr val="30394A"/>
                      </a:solidFill>
                    </a:lnB>
                    <a:solidFill>
                      <a:srgbClr val="25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DC5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T w="9525">
                      <a:solidFill>
                        <a:srgbClr val="30394A"/>
                      </a:solidFill>
                    </a:lnT>
                    <a:lnB w="9525">
                      <a:solidFill>
                        <a:srgbClr val="30394A"/>
                      </a:solidFill>
                    </a:lnB>
                    <a:solidFill>
                      <a:srgbClr val="25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Owners’ profit growth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0394A"/>
                      </a:solidFill>
                    </a:lnL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FY26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+15.5% YoY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Revenue from operations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0394A"/>
                      </a:solidFill>
                    </a:lnL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FY26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−0.4% YoY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Owners’ profit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0394A"/>
                      </a:solidFill>
                    </a:lnL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Q1 FY27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₹6,721.05 crore, +11.8% YoY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Borrowings, excluding leases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0394A"/>
                      </a:solidFill>
                    </a:lnL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30 Jun 2026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₹2,72,081.67 crore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Company debt-service coverage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0394A"/>
                      </a:solidFill>
                    </a:lnL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FY26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0F3FB"/>
                          </a:solidFill>
                          <a:latin typeface="Arial"/>
                          <a:ea typeface="Arial"/>
                          <a:cs typeface="Arial"/>
                        </a:rPr>
                        <a:t>1.23×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0394A"/>
                      </a:solidFill>
                    </a:lnR>
                    <a:lnB w="9525">
                      <a:solidFill>
                        <a:srgbClr val="30394A"/>
                      </a:solidFill>
                    </a:lnB>
                    <a:solidFill>
                      <a:srgbClr val="0C101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F1C84-E774-4EB6-887C-003AB25E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A deferred-tax credit interacts with regulatory movements. Verified normalized consolidated EPS remains an open research question.</a:t>
            </a:r>
          </a:p>
        </p:txBody>
      </p:sp>
    </p:spTree>
    <p:extLst>
      <p:ext uri="{BB962C8B-B14F-4D97-AF65-F5344CB8AC3E}">
        <p14:creationId xmlns:p14="http://schemas.microsoft.com/office/powerpoint/2010/main" val="507905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B7582-384C-4E8A-A664-1403EC18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Operating cash does not cover capex plus interest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F9A82-8F08-4784-AA84-E1A0A16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02360-B9FC-41E1-BC01-E14B2508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C7A12-76EB-488B-AB0F-C9FBE79A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FY26 selected cash bridge, ₹ crore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E09D10D-A63B-474A-B51B-3E8EA76A6EF4}"/>
              </a:ext>
            </a:extLst>
          </p:cNvPr>
          <p:cNvGraphicFramePr/>
          <p:nvPr/>
        </p:nvGraphicFramePr>
        <p:xfrm>
          <a:off xmlns:a="http://schemas.openxmlformats.org/drawingml/2006/main" x="533400" y="2095500"/>
          <a:ext xmlns:a="http://schemas.openxmlformats.org/drawingml/2006/main" cx="1112520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b494063cdc404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C841A-31A2-4290-95C2-EA1AD6F9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112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6C18C"/>
                </a:solidFill>
                <a:latin typeface="Arial"/>
                <a:ea typeface="Arial"/>
                <a:cs typeface="Arial"/>
              </a:rPr>
              <a:t>₹6,852 crore after capex becomes −₹10,686 crore after cash interest.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E4009-DC5E-484F-A98E-A78731B8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Interest sits in financing. The selected residual after dividends excludes other flows and is not a complete cash reconciliation.</a:t>
            </a:r>
          </a:p>
        </p:txBody>
      </p:sp>
    </p:spTree>
    <p:extLst>
      <p:ext uri="{BB962C8B-B14F-4D97-AF65-F5344CB8AC3E}">
        <p14:creationId xmlns:p14="http://schemas.microsoft.com/office/powerpoint/2010/main" val="720897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CC154-F375-4907-8C8E-D70E42D1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The entry-price screen exposes the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8CFA2-2106-4AF8-B0C1-6CEB25C7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B2891-D69A-4383-86BE-AD6F6BE0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65675-3D43-4A23-BE0C-5F52D417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Dated NSE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83267-5416-4E8E-A0F5-454CAF51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₹303.75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17E67-38B1-41E1-AC12-53431844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10.61× reported trailing P/E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AE49E-058D-4925-A981-4DEEAF13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Example entry threshold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51DD6-C7C4-4EE7-BDC1-EE555B8C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508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E6C18C"/>
                </a:solidFill>
                <a:latin typeface="Arial"/>
                <a:ea typeface="Arial"/>
                <a:cs typeface="Arial"/>
              </a:rPr>
              <a:t>₹248.22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33238-E32D-4894-970D-E19948F1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508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6C1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6C18C"/>
                </a:solidFill>
                <a:latin typeface="Arial"/>
                <a:ea typeface="Arial"/>
                <a:cs typeface="Arial"/>
              </a:rPr>
              <a:t>Wait under these assumptions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5A69A-7C8D-4462-BE44-B6C0F5D2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Example assumptions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62209-F910-4D19-9A11-B6A4F19B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62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15% earnings haircut, 12× assumed fair P/E, 15% margin of safety.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63640-8627-44C1-9DA5-540C6612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What changes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CF1D5-5041-4E53-91B1-621B0A41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Editable inputs change the screen. Recurring earnings and a funding plan still need to support the thesis.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F089C-8490-42AD-992E-CE6A245F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TTM EPS is reported, not normalized. The screen evaluates assumptions and does not predict investment returns.</a:t>
            </a:r>
          </a:p>
        </p:txBody>
      </p:sp>
    </p:spTree>
    <p:extLst>
      <p:ext uri="{BB962C8B-B14F-4D97-AF65-F5344CB8AC3E}">
        <p14:creationId xmlns:p14="http://schemas.microsoft.com/office/powerpoint/2010/main" val="12550525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D2EBF-CFEC-4282-B12B-E68AC741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Prismy answers from the site’s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6836C-29C7-4531-A2B0-726B5962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BBE1E-EB8B-4876-945F-63B0CCE9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81133-3DF8-49E5-B171-9D828FD8AF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b1715a5464dc2"/>
          <a:stretch xmlns:a="http://schemas.openxmlformats.org/drawingml/2006/main"/>
        </p:blipFill>
        <p:spPr>
          <a:xfrm xmlns:a="http://schemas.openxmlformats.org/drawingml/2006/main">
            <a:off x="6429375" y="1751844"/>
            <a:ext cx="5229225" cy="402106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51EF8-61BA-4B1D-92C9-C77AA220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A bounded answer 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755E0-36BB-4C03-BCF2-70FC1E6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31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Six preset questions and typed queries over 14 canonical evidence cards.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63792-84F8-4D26-8C0D-76135AD8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Sources accompany answers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59737-826B-4FAA-8689-35341E81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531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Unknown questions receive an explicit evidence-gap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E2054-971F-4846-8104-551D6FC3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95775"/>
            <a:ext cx="531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Optional model routing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AB2CE-5902-466E-9180-66A66CCE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76775"/>
            <a:ext cx="531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Local Ollama selects evidence IDs. Static hosting uses instant matching.</a:t>
            </a:r>
          </a:p>
        </p:txBody>
      </p:sp>
    </p:spTree>
    <p:extLst>
      <p:ext uri="{BB962C8B-B14F-4D97-AF65-F5344CB8AC3E}">
        <p14:creationId xmlns:p14="http://schemas.microsoft.com/office/powerpoint/2010/main" val="219184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C020F-0641-4873-8F83-B08DE17C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The most useful findings changed the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912F2-FBF1-4B66-9069-EBF290C1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AE143-B550-48C9-A27B-EE2FB85F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3B1E4-A0D7-47A3-8A8B-66AAA79B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A stronger baseline changes the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4BCB6-CF7D-4020-A8AA-4034A45C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The seasonal profile wins three of eight day-60 quarters. I retained every quarter and all cutoff comparisons.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C84A3-6BA4-4BCB-9905-68A63A49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Known output makes headline error look better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1D36B-7801-4EC2-9866-DF4BAABA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I added remaining-output error so the reader can assess the genuinely unobserved part of the quarter.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8464D-1BD0-4817-B999-274E54CB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Cash classification changes the 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F681B-E45D-43F4-BAFA-87C64945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I subtracted financing interest explicitly before discussing cash available after reinvestment.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F89AD-3548-4E5C-A254-C69E9F29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29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Restricted generation improves factual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8109F-E047-4595-9279-9C59F739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Prismy renders source-backed cards. The LLM can match a question but cannot write new factual claims.</a:t>
            </a:r>
          </a:p>
        </p:txBody>
      </p:sp>
    </p:spTree>
    <p:extLst>
      <p:ext uri="{BB962C8B-B14F-4D97-AF65-F5344CB8AC3E}">
        <p14:creationId xmlns:p14="http://schemas.microsoft.com/office/powerpoint/2010/main" val="511248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897BF-2121-4666-8F9F-484FE639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The next version would strengthen provenance and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60464-D29F-4A13-B872-10567097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A9D5B-2AFB-487F-9837-F020C63F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910CC-625C-4C7B-87E3-6BF30CFC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First priority: verify historical availability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CA3A3-873B-4E18-B322-90F6D91C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Capture first-public timestamps and revision vintages, then reserve prospective quarters before testing.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F700D-8EAB-4B59-B5CF-22D1791F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Second: expand coverage consistently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09595-C055-4719-BE7C-E1044F10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Map legal entities, technologies and commissioning events across the full fleet.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02F51-6683-490C-AED1-3EE7E97B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Third: model recurring earnings and funding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AAAFA-3E8E-4B50-9D37-66B92476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Separate tariff economics, normalize interacting adjustments, test project returns and financing needs.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BBE74-C3DD-4EF5-AF7F-02A5104E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29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Fourth: broaden assistant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4665E-4CB7-498F-AF35-979519C7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Use a larger paraphrase and unsupported-question set. Add a secured hosted model only if it is useful.</a:t>
            </a:r>
          </a:p>
        </p:txBody>
      </p:sp>
    </p:spTree>
    <p:extLst>
      <p:ext uri="{BB962C8B-B14F-4D97-AF65-F5344CB8AC3E}">
        <p14:creationId xmlns:p14="http://schemas.microsoft.com/office/powerpoint/2010/main" val="18894417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D5CDE-03D2-4ABB-858C-0ABAEE0C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3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0F3FB"/>
                </a:solidFill>
                <a:latin typeface="Arial"/>
                <a:ea typeface="Arial"/>
                <a:cs typeface="Arial"/>
              </a:rPr>
              <a:t>A reviewer can reproduce 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C0657-E7E8-4873-8CE2-2A15D33B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Sutanu Chatterjee  /  PRISM Trial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7A7A1-18FF-469B-A275-5EC827FD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82D91-0BF8-4862-B496-C30799D8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Live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392F1-6EA3-4FAC-AC21-10B92355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https://ronnismad.github.io/prism-ntpc-research-dashboard/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2B626-6D90-4D1C-AAE3-8F4AE86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Source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1DDA5-F657-4B6F-A21C-C23BA307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860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https://github.com/ronnismad/prism-ntpc-research-dashboard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9A290-EE45-4294-A8CC-19DF5479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Suggested five-minute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90257-0ACD-45F0-9997-8481FF1A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Historical evaluation, Investment decision, Methodology, then a Prismy question and a source link.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27B80-CCAC-4864-B2CD-CE6809C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29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DC5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DC5FF"/>
                </a:solidFill>
                <a:latin typeface="Arial"/>
                <a:ea typeface="Arial"/>
                <a:cs typeface="Arial"/>
              </a:rPr>
              <a:t>Reproducible handoff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57F55-0ACA-4258-8E37-47D495F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28 tests, source hashes, full-precision CSVs, README and local setup.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ACCE2-4738-4D83-9A01-82B4C025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1502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7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1C5"/>
                </a:solidFill>
                <a:latin typeface="Arial"/>
                <a:ea typeface="Arial"/>
                <a:cs typeface="Arial"/>
              </a:rPr>
              <a:t>Prepared by Sutanu Chatterjee for the PRISM trial task. Data and market quote are dated snapshots.</a:t>
            </a:r>
          </a:p>
        </p:txBody>
      </p:sp>
    </p:spTree>
    <p:extLst>
      <p:ext uri="{BB962C8B-B14F-4D97-AF65-F5344CB8AC3E}">
        <p14:creationId xmlns:p14="http://schemas.microsoft.com/office/powerpoint/2010/main" val="1202207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2026-10-28T20:08:21.1070000Z</dcterms:created>
  <dcterms:modified xsi:type="dcterms:W3CDTF">2026-10-28T20:08:21.1070000Z</dcterms:modified>
</coreProperties>
</file>